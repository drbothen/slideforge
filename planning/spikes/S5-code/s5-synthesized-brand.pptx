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!-- Slide IDs start at 256 per ECMA-376 -->
    <p:sldId id="256" r:id="rId4"/>
  </p:sldIdLst>
  <!-- 16:9 widescreen: 13.333" × 7.5" in EMU -->
  <p:sldSz cx="12192000" cy="6858000" type="screen16x9"/>
  <!-- Notes pages: portrait 4:3 -->
  <p:notesSz cx="6858000" cy="9144000"/>
  <p:defaultTextStyle>
    <a:defPPr>
      <a:defRPr lang="en-US"/>
    </a:defPPr>
    <a:lvl1pPr marL="0" algn="l" defTabSz="914400" rtl="0" eaLnBrk="1" latinLnBrk="0" hangingPunct="1">
      <a:defRPr lang="en-US" sz="1800" kern="1200">
        <a:solidFill>
          <a:schemeClr val="tx1"/>
        </a:solidFill>
        <a:latin typeface="+mn-lt"/>
      </a:defRPr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notesMaster" Target="notesMasters/notesMaster1.xml"/>
  <Relationship Id="rId3" Type="http://schemas.openxmlformats.org/officeDocument/2006/relationships/handoutMaster" Target="handoutMasters/handoutMaster1.xml"/>
  <Relationship Id="rId4" Type="http://schemas.openxmlformats.org/officeDocument/2006/relationships/slide" Target="slides/slide1.xml"/>
</Relationships>
</file>

<file path=ppt/handoutMasters/_rels/handout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!-- Notes body placeholder --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3200400"/>
            <a:ext cx="5943600" cy="54009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ctrTitle" sz="full" idx="0"/>
          </p:nvPr>
        </p:nvSpPr>
        <p:spPr>
          <a:xfrm>
            <a:off x="914400" y="1828800"/>
            <a:ext cx="9144000" cy="1371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full" idx="1"/>
          </p:nvPr>
        </p:nvSpPr>
        <p:spPr>
          <a:xfrm>
            <a:off x="914400" y="3200400"/>
            <a:ext cx="9144000" cy="914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1078992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1828800"/>
            <a:ext cx="10789920" cy="1371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full" idx="1"/>
          </p:nvPr>
        </p:nvSpPr>
        <p:spPr>
          <a:xfrm>
            <a:off x="609600" y="3474720"/>
            <a:ext cx="10789920" cy="1828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530352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full" idx="2"/>
          </p:nvPr>
        </p:nvSpPr>
        <p:spPr>
          <a:xfrm>
            <a:off x="6272784" y="1371600"/>
            <a:ext cx="530352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512064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full" idx="2"/>
          </p:nvPr>
        </p:nvSpPr>
        <p:spPr>
          <a:xfrm>
            <a:off x="6272784" y="1371600"/>
            <a:ext cx="512064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sz="full" idx="3"/>
          </p:nvPr>
        </p:nvSpPr>
        <p:spPr>
          <a:xfrm>
            <a:off x="609600" y="2011680"/>
            <a:ext cx="5120640" cy="347472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type="body" sz="full" idx="4"/>
          </p:nvPr>
        </p:nvSpPr>
        <p:spPr>
          <a:xfrm>
            <a:off x="6272784" y="2011680"/>
            <a:ext cx="5120640" cy="347472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685800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full" idx="2"/>
          </p:nvPr>
        </p:nvSpPr>
        <p:spPr>
          <a:xfrm>
            <a:off x="7772400" y="1371600"/>
            <a:ext cx="320040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full" idx="1"/>
          </p:nvPr>
        </p:nvSpPr>
        <p:spPr>
          <a:xfrm>
            <a:off x="609600" y="1371600"/>
            <a:ext cx="77724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Caption Placeholder 3"/>
          <p:cNvSpPr>
            <a:spLocks noGrp="1"/>
          </p:cNvSpPr>
          <p:nvPr>
            <p:ph type="body" sz="full" idx="2"/>
          </p:nvPr>
        </p:nvSpPr>
        <p:spPr>
          <a:xfrm>
            <a:off x="609600" y="5669280"/>
            <a:ext cx="10789920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1078992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1005840" y="1371600"/>
            <a:ext cx="73152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Vertical Body Text Placeholder 2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1078992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>
    <p:bg>
      <p:bgPr>
        <!-- Background: brand primary color (dk2 via clrMapOvr maps to bg1) --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ctrTitle" sz="full" idx="0"/>
          </p:nvPr>
        </p:nvSpPr>
        <p:spPr>
          <a:xfrm>
            <a:off x="609600" y="1828800"/>
            <a:ext cx="10789920" cy="1371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full" idx="1"/>
          </p:nvPr>
        </p:nvSpPr>
        <p:spPr>
          <a:xfrm>
            <a:off x="609600" y="3474720"/>
            <a:ext cx="10789920" cy="914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tat 1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3383280" cy="2377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tat 2"/>
          <p:cNvSpPr>
            <a:spLocks noGrp="1"/>
          </p:cNvSpPr>
          <p:nvPr>
            <p:ph type="body" sz="full" idx="2"/>
          </p:nvPr>
        </p:nvSpPr>
        <p:spPr>
          <a:xfrm>
            <a:off x="6675120" y="1371600"/>
            <a:ext cx="3383280" cy="2377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ontext Placeholder"/>
          <p:cNvSpPr>
            <a:spLocks noGrp="1"/>
          </p:cNvSpPr>
          <p:nvPr>
            <p:ph type="body" sz="full" idx="3"/>
          </p:nvPr>
        </p:nvSpPr>
        <p:spPr>
          <a:xfrm>
            <a:off x="609600" y="5120640"/>
            <a:ext cx="10789920" cy="5486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Timeline Content Area"/>
          <p:cNvSpPr>
            <a:spLocks noGrp="1"/>
          </p:cNvSpPr>
          <p:nvPr>
            <p:ph type="body" sz="full" idx="1"/>
          </p:nvPr>
        </p:nvSpPr>
        <p:spPr>
          <a:xfrm>
            <a:off x="609600" y="1371600"/>
            <a:ext cx="10789920" cy="4572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>
            <a:spLocks noGrp="1"/>
          </p:cNvSpPr>
          <p:nvPr>
            <p:ph type="title" sz="full" idx="0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Left Panel"/>
          <p:cNvSpPr>
            <a:spLocks noGrp="1"/>
          </p:cNvSpPr>
          <p:nvPr>
            <p:ph type="body" sz="full" idx="1"/>
          </p:nvPr>
        </p:nvSpPr>
        <p:spPr>
          <a:xfrm>
            <a:off x="609600" y="1280160"/>
            <a:ext cx="5303520" cy="38404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Right Panel"/>
          <p:cNvSpPr>
            <a:spLocks noGrp="1"/>
          </p:cNvSpPr>
          <p:nvPr>
            <p:ph type="body" sz="full" idx="2"/>
          </p:nvPr>
        </p:nvSpPr>
        <p:spPr>
          <a:xfrm>
            <a:off x="6099048" y="1280160"/>
            <a:ext cx="5303520" cy="38404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om" preserve="1">
  <p:cSld>
    <p:bg>
      <p:bgPr>
        <!-- Background: brand primary color (dk2 via clrMapOvr maps to bg1) --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End Title"/>
          <p:cNvSpPr>
            <a:spLocks noGrp="1"/>
          </p:cNvSpPr>
          <p:nvPr>
            <p:ph type="ctrTitle" sz="full" idx="0"/>
          </p:nvPr>
        </p:nvSpPr>
        <p:spPr>
          <a:xfrm>
            <a:off x="609600" y="2286000"/>
            <a:ext cx="10789920" cy="1828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  <Relationship Id="rId3" Type="http://schemas.openxmlformats.org/officeDocument/2006/relationships/slideLayout" Target="../slideLayouts/slideLayout2.xml"/>
  <Relationship Id="rId4" Type="http://schemas.openxmlformats.org/officeDocument/2006/relationships/slideLayout" Target="../slideLayouts/slideLayout3.xml"/>
  <Relationship Id="rId5" Type="http://schemas.openxmlformats.org/officeDocument/2006/relationships/slideLayout" Target="../slideLayouts/slideLayout4.xml"/>
  <Relationship Id="rId6" Type="http://schemas.openxmlformats.org/officeDocument/2006/relationships/slideLayout" Target="../slideLayouts/slideLayout5.xml"/>
  <Relationship Id="rId7" Type="http://schemas.openxmlformats.org/officeDocument/2006/relationships/slideLayout" Target="../slideLayouts/slideLayout6.xml"/>
  <Relationship Id="rId8" Type="http://schemas.openxmlformats.org/officeDocument/2006/relationships/slideLayout" Target="../slideLayouts/slideLayout7.xml"/>
  <Relationship Id="rId9" Type="http://schemas.openxmlformats.org/officeDocument/2006/relationships/slideLayout" Target="../slideLayouts/slideLayout8.xml"/>
  <Relationship Id="rId10" Type="http://schemas.openxmlformats.org/officeDocument/2006/relationships/slideLayout" Target="../slideLayouts/slideLayout9.xml"/>
  <Relationship Id="rId11" Type="http://schemas.openxmlformats.org/officeDocument/2006/relationships/slideLayout" Target="../slideLayouts/slideLayout10.xml"/>
  <Relationship Id="rId12" Type="http://schemas.openxmlformats.org/officeDocument/2006/relationships/slideLayout" Target="../slideLayouts/slideLayout11.xml"/>
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!-- READING ORDER: title placeholder first, body placeholder second,
           then chrome (logo, page number) last. This is the correct screen-reader
           order and matches PowerPoint's Selection Pane bottom-to-top convention. -->
      <!-- Title placeholder template (type=title, idx=0) --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600" y="493776"/>
            <a:ext cx="10789920" cy="457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!-- Body placeholder template (type=body, idx=1) --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371600"/>
            <a:ext cx="10789920" cy="4572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text styles</a:t>
            </a:r>
          </a:p>
        </p:txBody>
      </p:sp>
      <!-- Logo (top-right corner, decorative — screen reader skips) -->
      <!-- Position: x=10.8", y=0.25", cx=1.0", cy=0.5" -->
      <!-- In production this would use <p:blipFill r:embed="rId10"/> to reference logo.png -->
      <p:sp>
        <p:nvSpPr>
          <p:cNvPr id="4" name="Corporate Logo">
            <a:extLst>
              <a:ext uri="{C452FA01-BE2C-4960-9963-9C64D71B0521}">
                <!-- Mark as decorative so screen readers skip it -->
                <!-- In production: <adec:decorative val="1"/> -->
              </a:ext>
            </a:extLst>
          </p:cNvPr>
          <p:cNvSpPr/>
          <p:nvPr/>
        </p:nvSpPr>
        <p:spPr>
          <a:xfrm>
            <a:off x="10800000" y="228600"/>
            <a:ext cx="914400" cy="457200"/>
          </a:xfrm>
          <a:prstGeom prst="rect">
            <a:avLst/>
          </a:prstGeom>
          <!-- Placeholder logo: brand-colored rectangle --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!-- Slide number placeholder (chrome, comes last in reading order) -->
      <p:sp>
        <p:nvSpPr>
          <p:cNvPr id="5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0" y="6553200"/>
            <a:ext cx="457200" cy="304800"/>
          </a:xfrm>
          <a:prstGeom prst="rect">
            <a:avLst/>
          </a:prstGeom>
        </p:spPr>
        <p:txBody>
          <a:bodyPr/>
          <a:lstStyle/>
          <a:p>
            <a:fld id="{A3B47C3D-2E3F-4F5A-8B6C-9D0E1F2A3B4C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!-- txStyles: defines 9-level text hierarchy for title, body, and other -->
  <p:txStyles>
    <p:titleStyle>
      <a:lvl1pPr algn="l" defTabSz="914400" rtl="0" eaLnBrk="1" latinLnBrk="0" hangingPunct="1">
        <a:spcBef>
          <a:spcPts val="0"/>
        </a:spcBef>
        <a:buNone/>
        <a:defRPr lang="en-US" sz="2400" b="1" dirty="0">
          <a:solidFill>
            <a:schemeClr val="tx1"/>
          </a:solidFill>
          <a:latin typeface="+mj-lt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lang="en-US" sz="1800" dirty="0">
          <a:solidFill>
            <a:schemeClr val="tx1"/>
          </a:solidFill>
          <a:latin typeface="+mn-lt"/>
        </a:defRPr>
      </a:lvl1pPr>
      <a:lvl2pPr marL="685800" indent="-342900" algn="l" defTabSz="914400" rtl="0" eaLnBrk="1" latinLnBrk="0" hangingPunct="1">
        <a:spcBef>
          <a:spcPct val="20000"/>
        </a:spcBef>
        <a:buFont typeface="Arial" charset="0"/>
        <a:buChar char="–"/>
        <a:defRPr lang="en-US" sz="1600" dirty="0">
          <a:solidFill>
            <a:schemeClr val="tx1"/>
          </a:solidFill>
          <a:latin typeface="+mn-lt"/>
        </a:defRPr>
      </a:lvl2pPr>
    </p:bodyStyle>
    <p:otherStyle>
      <a:defPPr>
        <a:defRPr lang="en-US" dirty="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2.xml"/>
</Relationships>
</file>

<file path=ppt/slides/slide1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spTree>
      <p:nvGrpSpPr>
        <p:cNvPr id="1" name=""/>
        <p:cNvGrpSpPr/>
        <p:nvPr/>
      </p:nvGrpSpPr>
      <p:grpSpPr>
        <a:xfrm><a:off x="0" y="0"/><a:ext cx="12192000" cy="6858000"/><a:chOff x="0" y="0"/><a:chExt cx="12192000" cy="6858000"/></a:xfrm>
      </p:grpSpPr>
      <!-- Title on dark background (inherits white text via clrMapOvr tx1→lt1) -->
      <p:sp>
        <p:nvSpPr>
          <p:cNvPr id="2" name="Title 1"/>
          <p:cNvSpPr><a:spLocks noGrp="1"/></p:cNvSpPr>
          <p:nvPr><p:ph type="ctrTitle"/></p:nvPr>
        </p:nvSpPr>
        <p:spPr/>
        <p:txBody>
          <a:bodyPr/>
          <a:lstStyle/>
          <a:p>
            <a:r>
              <a:rPr lang="en-US" dirty="0">
                <!-- Color inherits from scheme via clrMapOvr: tx1 → lt1 (white) -->
                <a:solidFill><a:schemeClr val="tx1"/></a:solidFill>
                <a:latin typeface="+mj-lt"/>
              </a:rPr>
              <a:t>S5 Brand Synthesis — 1898 & Co.</a:t>
            </a:r>
          </a:p>
        </p:txBody>
      </p:sp>
      <p:sp>
        <p:nvSpPr>
          <p:cNvPr id="3" name="Subtitle 2"/>
          <p:cNvSpPr><a:spLocks noGrp="1"/></p:cNvSpPr>
          <p:nvPr><p:ph type="subTitle" idx="1"/></p:nvPr>
        </p:nvSpPr>
        <p:spPr/>
        <p:txBody>
          <a:bodyPr/>
          <a:lstStyle/>
          <a:p>
            <a:r>
              <a:rPr lang="en-US" dirty="0">
                <a:solidFill><a:schemeClr val="tx2"/></a:solidFill>
                <a:latin typeface="+mn-lt"/>
              </a:rPr>
              <a:t>16 layouts: 11 standard + 5 custom (slideforge types)</a:t>
            </a:r>
          </a:p>
        </p:txBody>
      </p:sp>
    </p:spTree>
  </p:cSld>
  <!-- Notes slide placeholder for accessibility -->
</p:sld>
</file>

<file path=ppt/theme/theme1.xml><?xml version="1.0" encoding="UTF-8" standalone="yes"?>
<a:theme xmlns:a="http://schemas.openxmlformats.org/drawingml/2006/main" name="1898 & Co. Theme">
  <a:themeElements>
    <!-- ORDERING INVARIANT: clrScheme MUST precede fontScheme MUST precede fmtScheme -->
    <!-- COLOR SLOT ORDERING INVARIANT: dk1,lt1,dk2,lt2,accent1-6,hlink,folHlink -->
    <a:clrScheme name="1898 & Co.">
      <a:dk1><a:srgbClr val="1A1A1A"/></a:dk1>
      <a:lt1><a:srgbClr val="FFFFFF"/></a:lt1>
      <a:dk2><a:srgbClr val="003766"/></a:dk2>
      <a:lt2><a:srgbClr val="F5F5F5"/></a:lt2>
      <a:accent1><a:srgbClr val="003766"/></a:accent1>
      <a:accent2><a:srgbClr val="FF6F00"/></a:accent2>
      <a:accent3><a:srgbClr val="6B2D8B"/></a:accent3>
      <a:accent4><a:srgbClr val="CC3333"/></a:accent4>
      <a:accent5><a:srgbClr val="339966"/></a:accent5>
      <a:accent6><a:srgbClr val="81C6BD"/></a:accent6>
      <a:hlink><a:srgbClr val="0563C1"/></a:hlink>
      <a:folHlink><a:srgbClr val="954F72"/></a:folHlink>
    </a:clrScheme>
    <a:fontScheme name="1898 & Co.">
      <a:majorFont>
        <!-- +mj-lt references this as the "major" (heading) font -->
        <a:latin typeface="Aptos Display"/>
        <a:ea typeface=""/>
        <a:cs typeface=""/>
        <!-- CJK fallbacks (required for East Asian text rendering) -->
        <a:font script="Jpan" typeface="Yu Gothic"/>
        <a:font script="Hang" typeface="Malgun Gothic"/>
        <a:font script="Hans" typeface="DengXian"/>
        <a:font script="Arab" typeface="Traditional Arabic"/>
      </a:majorFont>
      <a:minorFont>
        <!-- +mn-lt references this as the "minor" (body) font -->
        <a:latin typeface="Aptos"/>
        <a:ea typeface=""/>
        <a:cs typeface=""/>
        <a:font script="Jpan" typeface="Yu Gothic UI"/>
        <a:font script="Hang" typeface="Malgun Gothic"/>
        <a:font script="Hans" typeface="DengXian Light"/>
        <a:font script="Arab" typeface="Arial"/>
      </a:minorFont>
    </a:fontScheme>
    <a:fmtScheme name="Office">
      <!-- Minimal format scheme — fill/line/effect styles PowerPoint expects -->
      <a:fillStyleLst>
        <a:solidFill><a:schemeClr val="phClr"/></a:solidFill>
        <a:gradFill rotWithShape="1">
          <a:gsLst>
            <a:gs pos="0"><a:schemeClr val="phClr"><a:lumMod val="110000"/><a:satMod val="105000"/><a:tint val="67000"/></a:schemeClr></a:gs>
            <a:gs pos="50000"><a:schemeClr val="phClr"><a:lumMod val="105000"/><a:satMod val="103000"/><a:tint val="73000"/></a:schemeClr></a:gs>
            <a:gs pos="100000"><a:schemeClr val="phClr"><a:lumMod val="105000"/><a:satMod val="109000"/><a:tint val="81000"/></a:schemeClr></a:gs>
          </a:gsLst>
          <a:lin ang="5400000" scaled="0"/>
        </a:gradFill>
        <a:gradFill rotWithShape="1">
          <a:gsLst>
            <a:gs pos="0"><a:schemeClr val="phClr"><a:satMod val="103000"/><a:lumMod val="102000"/><a:tint val="94000"/></a:schemeClr></a:gs>
            <a:gs pos="50000"><a:schemeClr val="phClr"><a:satMod val="110000"/><a:lumMod val="100000"/><a:shade val="100000"/></a:schemeClr></a:gs>
            <a:gs pos="100000"><a:schemeClr val="phClr"><a:lumMod val="99000"/><a:satMod val="120000"/><a:shade val="78000"/></a:schemeClr></a:gs>
          </a:gsLst>
          <a:lin ang="5400000" scaled="0"/>
        </a:gradFill>
      </a:fillStyleLst>
      <a:lnStyleLst>
        <a:ln w="6350" cap="flat" cmpd="sng" algn="ctr">
          <a:solidFill><a:schemeClr val="phClr"/></a:solidFill>
          <a:prstDash val="solid"/>
          <a:miter lim="800000"/>
        </a:ln>
        <a:ln w="12700" cap="flat" cmpd="sng" algn="ctr">
          <a:solidFill><a:schemeClr val="phClr"/></a:solidFill>
          <a:prstDash val="solid"/>
          <a:miter lim="800000"/>
        </a:ln>
        <a:ln w="19050" cap="flat" cmpd="sng" algn="ctr">
          <a:solidFill><a:schemeClr val="phClr"/></a:solidFill>
          <a:prstDash val="solid"/>
          <a:miter lim="800000"/>
        </a:ln>
      </a:lnStyleLst>
      <a:effectStyleLst>
        <a:effectStyle><a:effectLst/></a:effectStyle>
        <a:effectStyle><a:effectLst/></a:effectStyle>
        <a:effectStyle>
          <a:effectLst>
            <a:outerShdw blurRad="57150" dist="19050" dir="5400000" algn="ctr" rotWithShape="0">
              <a:srgbClr val="000000"><a:alpha val="63000"/></a:srgbClr>
            </a:outerShdw>
          </a:effectLst>
        </a:effectStyle>
      </a:effectStyleLst>
      <a:bgFillStyleLst>
        <a:solidFill><a:schemeClr val="phClr"/></a:solidFill>
        <a:solidFill><a:schemeClr val="phClr"><a:tint val="95000"/><a:satMod val="170000"/></a:schemeClr></a:solidFill>
        <a:gradFill rotWithShape="1">
          <a:gsLst>
            <a:gs pos="0"><a:schemeClr val="phClr"><a:tint val="93000"/><a:satMod val="150000"/><a:shade val="98000"/><a:lumMod val="102000"/></a:schemeClr></a:gs>
            <a:gs pos="50000"><a:schemeClr val="phClr"><a:tint val="98000"/><a:satMod val="130000"/><a:shade val="90000"/><a:lumMod val="103000"/></a:schemeClr></a:gs>
            <a:gs pos="100000"><a:schemeClr val="phClr"><a:shade val="63000"/><a:satMod val="120000"/></a:schemeClr>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 standalone="yes"?>
<Properties xmlns="http://schemas.openxmlformats.org/officeDocument/2006/extended-properties">
  <Application>slideforge S5 Spike</Application>
  <Company>1898 & Co.</Company>
  <Slides>1</Slides>
  <PresentationFormat>Widescreen</PresentationFormat>
</Properties>
</file>

<file path=docProps/core.xml><?xml version="1.0" encoding="UTF-8" standalone="yes"?>
<cp:coreProperties xmlns:cp="http://schemas.openxmlformats.org/package/2006/metadata/core-properties"
                   xmlns:dc="http://purl.org/dc/elements/1.1/"
                   xmlns:dcterms="http://purl.org/dc/terms/"
                   xmlns:xsi="http://www.w3.org/2001/XMLSchema-instance">
  <dc:creator>1898 & Co.</dc:creator>
  <dc:title>S5 Brand Synthesis — 1898 & Co. Brand Template</dc:title>
  <dc:description>Generated by slideforge S5 spike. Tests brand synthesis with 11 standard + 5 custom layouts.</dc:description>
  <cp:revision>1</cp:revision>
  <dcterms:created xsi:type="dcterms:W3CDTF">2026-05-24T00:00:00Z</dcterms:created>
</cp:coreProperties>
</file>